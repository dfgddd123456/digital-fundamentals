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png" ContentType="image/png"/>
  <Default Extension="jpeg" ContentType="image/jpeg"/>
  <Default Extension="svg" ContentType="image/svg+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rts/colors1.xml" ContentType="application/vnd.ms-office.chartcolorstyle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charts/style1.xml" ContentType="application/vnd.ms-office.chartstyle+xml"/>
  <Override PartName="/ppt/charts/colors2.xml" ContentType="application/vnd.ms-office.chartcolorstyl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charts/style2.xml" ContentType="application/vnd.ms-office.chartstyle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2.xml" ContentType="application/vnd.openxmlformats-officedocument.presentationml.slide+xml"/>
  <Override PartName="/ppt/charts/chart2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46F890A9-2807-4EBB-B81D-B2AA78EC7F39}">
  <a:tblStyle styleId="{46F890A9-2807-4EBB-B81D-B2AA78EC7F39}" styleName="Dark Style 2 - Accent 5/Accent 6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noFill/>
            </a:ln>
          </a:bottom>
        </a:tcBdr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2" d="100"/>
          <a:sy n="62" d="100"/>
        </p:scale>
        <p:origin x="816" y="36"/>
      </p:cViewPr>
      <p:guideLst>
        <p:guide pos="278" orient="horz"/>
        <p:guide pos="1323"/>
        <p:guide pos="279"/>
        <p:guide pos="7423"/>
        <p:guide pos="4042" orient="horz"/>
        <p:guide pos="892"/>
        <p:guide pos="733"/>
        <p:guide pos="2547"/>
        <p:guide pos="2094"/>
        <p:guide pos="2706"/>
        <p:guide pos="3160"/>
        <p:guide pos="3318"/>
        <p:guide pos="1504"/>
        <p:guide pos="1935"/>
        <p:guide pos="663" orient="horz"/>
        <p:guide pos="4362"/>
        <p:guide pos="3931"/>
        <p:guide pos="3772"/>
        <p:guide pos="4974"/>
        <p:guide pos="5133"/>
        <p:guide pos="5586"/>
        <p:guide pos="5745"/>
        <p:guide pos="6199"/>
        <p:guide pos="6357"/>
        <p:guide pos="6788"/>
        <p:guide pos="6970"/>
        <p:guide pos="4543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microsoft.com/office/2011/relationships/chartStyle" Target="style1.xml" /><Relationship Id="rId2" Type="http://schemas.microsoft.com/office/2011/relationships/chartColorStyle" Target="colors1.xml" /><Relationship Id="rId3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microsoft.com/office/2011/relationships/chartStyle" Target="style2.xml" /><Relationship Id="rId2" Type="http://schemas.microsoft.com/office/2011/relationships/chartColorStyle" Target="colors2.xml" /><Relationship Id="rId3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p>
            <a:pPr>
              <a:defRPr/>
            </a:pPr>
            <a:r>
              <a:rPr lang="en-US" sz="1800" b="1" i="0" u="none" strike="noStrike" cap="none" spc="0">
                <a:solidFill>
                  <a:srgbClr val="0F1115"/>
                </a:solidFill>
                <a:latin typeface="Onest"/>
                <a:ea typeface="Onest"/>
                <a:cs typeface="Onest"/>
              </a:rPr>
              <a:t>На</a:t>
            </a:r>
            <a:r>
              <a:rPr lang="en-US" sz="1800" b="1" i="0" u="none" strike="noStrike" cap="none" spc="0">
                <a:solidFill>
                  <a:srgbClr val="0F1115"/>
                </a:solidFill>
                <a:latin typeface="Onest"/>
                <a:ea typeface="Onest"/>
                <a:cs typeface="Onest"/>
              </a:rPr>
              <a:t>стольные ко</a:t>
            </a:r>
            <a:r>
              <a:rPr lang="en-US" sz="1800" b="1" i="0" u="none" strike="noStrike" cap="none" spc="0">
                <a:solidFill>
                  <a:srgbClr val="0F1115"/>
                </a:solidFill>
                <a:latin typeface="Onest"/>
                <a:ea typeface="Onest"/>
                <a:cs typeface="Onest"/>
              </a:rPr>
              <a:t>мпьютеры</a:t>
            </a:r>
            <a:endParaRPr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</c:spPr>
      <c:txPr>
        <a:bodyPr/>
        <a:p>
          <a:pPr>
            <a:defRPr sz="1800" b="1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/>
        </a:p>
      </c:txPr>
    </c:title>
    <c:autoTitleDeleted val="0"/>
    <c:view3D>
      <c:rotX val="50"/>
      <c:rotY val="0"/>
      <c:depthPercent val="100"/>
      <c:rAngAx val="0"/>
    </c:view3D>
    <c:floor>
      <c:thickness val="0"/>
      <c:spPr bwMode="auto">
        <a:prstGeom prst="rect">
          <a:avLst/>
        </a:prstGeom>
        <a:noFill/>
        <a:ln>
          <a:noFill/>
        </a:ln>
      </c:spPr>
    </c:floor>
    <c:sideWall>
      <c:thickness val="0"/>
      <c:spPr bwMode="auto">
        <a:prstGeom prst="rect">
          <a:avLst/>
        </a:prstGeom>
        <a:noFill/>
        <a:ln>
          <a:noFill/>
        </a:ln>
      </c:spPr>
    </c:sideWall>
    <c:backWall>
      <c:thickness val="0"/>
      <c:spPr bwMode="auto">
        <a:prstGeom prst="rect">
          <a:avLst/>
        </a:prstGeom>
        <a:noFill/>
        <a:ln>
          <a:noFill/>
        </a:ln>
      </c:spPr>
    </c:backWall>
    <c:plotArea>
      <c:layout>
        <c:manualLayout>
          <c:layoutTarget val="inner"/>
          <c:xMode val="edge"/>
          <c:yMode val="edge"/>
          <c:x val="0.022620"/>
          <c:y val="0.152520"/>
          <c:w val="0.944290"/>
          <c:h val="0.764830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</c:spPr>
            <c:txPr>
              <a:bodyPr/>
              <a:p>
                <a:pPr>
                  <a:defRPr sz="1000" b="1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Windows</c:v>
                </c:pt>
                <c:pt idx="1">
                  <c:v>MacOS</c:v>
                </c:pt>
                <c:pt idx="2">
                  <c:v>Linux</c:v>
                </c:pt>
                <c:pt idx="3">
                  <c:v>другие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17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</c:spPr>
            <c:txPr>
              <a:bodyPr/>
              <a:p>
                <a:pPr>
                  <a:defRPr sz="1000" b="1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Windows</c:v>
                </c:pt>
                <c:pt idx="1">
                  <c:v>MacOS</c:v>
                </c:pt>
                <c:pt idx="2">
                  <c:v>Linux</c:v>
                </c:pt>
                <c:pt idx="3">
                  <c:v>другие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</c:spPr>
            <c:txPr>
              <a:bodyPr/>
              <a:p>
                <a:pPr>
                  <a:defRPr sz="1000" b="1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Windows</c:v>
                </c:pt>
                <c:pt idx="1">
                  <c:v>MacOS</c:v>
                </c:pt>
                <c:pt idx="2">
                  <c:v>Linux</c:v>
                </c:pt>
                <c:pt idx="3">
                  <c:v>другие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dLblPos val="ctr"/>
          <c:showBubbleSize val="0"/>
          <c:showCatName val="0"/>
          <c:showLeaderLines val="1"/>
          <c:showLegendKey val="0"/>
          <c:showPercent val="1"/>
          <c:showSerName val="0"/>
          <c:showVal val="0"/>
          <c:spPr bwMode="auto">
            <a:prstGeom prst="rect">
              <a:avLst/>
            </a:prstGeom>
            <a:pattFill prst="pct75">
              <a:fgClr>
                <a:schemeClr val="dk1">
                  <a:lumMod val="75000"/>
                  <a:lumOff val="25000"/>
                </a:schemeClr>
              </a:fgClr>
              <a:bgClr>
                <a:schemeClr val="dk1">
                  <a:lumMod val="65000"/>
                  <a:lumOff val="35000"/>
                </a:schemeClr>
              </a:bgClr>
            </a:pattFill>
            <a:ln>
              <a:noFill/>
            </a:ln>
          </c:spPr>
          <c:txPr>
            <a:bodyPr/>
            <a:p>
              <a:pPr>
                <a:defRPr sz="1000" b="1" i="0" u="none" strike="noStrike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/>
            </a:p>
          </c:txPr>
        </c:dLbls>
      </c:pie3DChart>
      <c:spPr bwMode="auto">
        <a:prstGeom prst="rect">
          <a:avLst/>
        </a:prstGeom>
        <a:noFill/>
        <a:ln>
          <a:noFill/>
        </a:ln>
      </c:spPr>
    </c:plotArea>
    <c:legend>
      <c:legendPos val="r"/>
      <c:layout/>
      <c:overlay val="0"/>
      <c:spPr bwMode="auto">
        <a:prstGeom prst="rect">
          <a:avLst/>
        </a:prstGeom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 bwMode="auto">
    <a:xfrm>
      <a:off x="6801320" y="1174441"/>
      <a:ext cx="4740596" cy="2716852"/>
    </a:xfrm>
    <a:prstGeom prst="rect">
      <a:avLst/>
    </a:prstGeom>
    <a:gradFill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/>
    </a:gradFill>
    <a:ln w="9525" cap="flat" cmpd="sng" algn="ctr">
      <a:solidFill>
        <a:schemeClr val="dk1">
          <a:lumMod val="25000"/>
          <a:lumOff val="75000"/>
        </a:schemeClr>
      </a:solidFill>
      <a:round/>
    </a:ln>
  </c:spPr>
  <c:txPr>
    <a:bodyPr/>
    <a:p>
      <a:pPr>
        <a:defRPr sz="900">
          <a:solidFill>
            <a:schemeClr val="dk1"/>
          </a:solidFill>
          <a:latin typeface="+mn-lt"/>
          <a:ea typeface="+mn-ea"/>
          <a:cs typeface="+mn-cs"/>
        </a:defRPr>
      </a:pPr>
      <a:endParaRPr/>
    </a:p>
  </c:txPr>
  <c:externalData r:id="rId3">
    <c:autoUpdate val="0"/>
  </c:externalData>
  <c:printSettings>
    <c:headerFooter/>
    <c:pageMargins l="0.69999999999999996" r="0.69999999999999996" t="0.75" b="0.75" header="0.29999999999999999" footer="0.29999999999999999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p>
            <a:pPr>
              <a:defRPr sz="1800" b="1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Сервера и </a:t>
            </a:r>
            <a:r>
              <a:rPr lang="ru-RU"/>
              <a:t>дата центры</a:t>
            </a:r>
            <a:endParaRPr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</c:spPr>
      <c:txPr>
        <a:bodyPr/>
        <a:p>
          <a:pPr>
            <a:defRPr sz="1800" b="1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/>
        </a:p>
      </c:txPr>
    </c:title>
    <c:autoTitleDeleted val="0"/>
    <c:view3D>
      <c:rotX val="50"/>
      <c:rotY val="0"/>
      <c:depthPercent val="100"/>
      <c:rAngAx val="0"/>
    </c:view3D>
    <c:floor>
      <c:thickness val="0"/>
      <c:spPr bwMode="auto">
        <a:prstGeom prst="rect">
          <a:avLst/>
        </a:prstGeom>
        <a:noFill/>
        <a:ln>
          <a:noFill/>
        </a:ln>
      </c:spPr>
    </c:floor>
    <c:sideWall>
      <c:thickness val="0"/>
      <c:spPr bwMode="auto">
        <a:prstGeom prst="rect">
          <a:avLst/>
        </a:prstGeom>
        <a:noFill/>
        <a:ln>
          <a:noFill/>
        </a:ln>
      </c:spPr>
    </c:sideWall>
    <c:backWall>
      <c:thickness val="0"/>
      <c:spPr bwMode="auto">
        <a:prstGeom prst="rect">
          <a:avLst/>
        </a:prstGeom>
        <a:noFill/>
        <a:ln>
          <a:noFill/>
        </a:ln>
      </c:spPr>
    </c:backWall>
    <c:plotArea>
      <c:layout>
        <c:manualLayout>
          <c:layoutTarget val="inner"/>
          <c:xMode val="edge"/>
          <c:yMode val="edge"/>
          <c:x val="0.242930"/>
          <c:y val="0.124520"/>
          <c:w val="0.514980"/>
          <c:h val="0.935720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>
                <c:manualLayout>
                  <c:x val="-0.001680"/>
                  <c:y val="-0.083700"/>
                </c:manualLayout>
              </c:layout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</c:spPr>
            <c:txPr>
              <a:bodyPr/>
              <a:p>
                <a:pPr>
                  <a:defRPr sz="1000" b="1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Linux</c:v>
                </c:pt>
                <c:pt idx="1">
                  <c:v>Windows</c:v>
                </c:pt>
                <c:pt idx="2">
                  <c:v>Другие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</c:spPr>
            <c:txPr>
              <a:bodyPr/>
              <a:p>
                <a:pPr>
                  <a:defRPr sz="1000" b="1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Linux</c:v>
                </c:pt>
                <c:pt idx="1">
                  <c:v>Windows</c:v>
                </c:pt>
                <c:pt idx="2">
                  <c:v>Другие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1"/>
              <c:showSerName val="0"/>
              <c:showVal val="0"/>
              <c:spPr bwMode="auto">
                <a:prstGeom prst="rec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:spPr>
              <c:txPr>
                <a:bodyPr/>
                <a:p>
                  <a:pPr>
                    <a:defRPr sz="1000" b="1" i="0" u="none" strike="noStrike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1"/>
            <c:showSerName val="0"/>
            <c:showVal val="0"/>
            <c:spPr bwMode="auto">
              <a:prstGeom prst="rect">
                <a:avLst/>
              </a:prstGeom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</c:spPr>
            <c:txPr>
              <a:bodyPr/>
              <a:p>
                <a:pPr>
                  <a:defRPr sz="1000" b="1" i="0" u="none" strike="noStrike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Linux</c:v>
                </c:pt>
                <c:pt idx="1">
                  <c:v>Windows</c:v>
                </c:pt>
                <c:pt idx="2">
                  <c:v>Другие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dLblPos val="ctr"/>
          <c:showBubbleSize val="0"/>
          <c:showCatName val="0"/>
          <c:showLeaderLines val="1"/>
          <c:showLegendKey val="0"/>
          <c:showPercent val="1"/>
          <c:showSerName val="0"/>
          <c:showVal val="0"/>
          <c:spPr bwMode="auto">
            <a:prstGeom prst="rect">
              <a:avLst/>
            </a:prstGeom>
            <a:pattFill prst="pct75">
              <a:fgClr>
                <a:schemeClr val="dk1">
                  <a:lumMod val="75000"/>
                  <a:lumOff val="25000"/>
                </a:schemeClr>
              </a:fgClr>
              <a:bgClr>
                <a:schemeClr val="dk1">
                  <a:lumMod val="65000"/>
                  <a:lumOff val="35000"/>
                </a:schemeClr>
              </a:bgClr>
            </a:pattFill>
            <a:ln>
              <a:noFill/>
            </a:ln>
          </c:spPr>
          <c:txPr>
            <a:bodyPr/>
            <a:p>
              <a:pPr>
                <a:defRPr sz="1000" b="1" i="0" u="none" strike="noStrike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/>
            </a:p>
          </c:txPr>
        </c:dLbls>
      </c:pie3DChart>
      <c:spPr bwMode="auto">
        <a:prstGeom prst="rect">
          <a:avLst/>
        </a:prstGeom>
        <a:noFill/>
        <a:ln>
          <a:noFill/>
        </a:ln>
      </c:spPr>
    </c:plotArea>
    <c:legend>
      <c:legendPos val="r"/>
      <c:layout/>
      <c:overlay val="0"/>
      <c:spPr bwMode="auto">
        <a:prstGeom prst="rect">
          <a:avLst/>
        </a:prstGeom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 bwMode="auto">
    <a:xfrm>
      <a:off x="6801320" y="3963720"/>
      <a:ext cx="4740596" cy="2609051"/>
    </a:xfrm>
    <a:prstGeom prst="rect">
      <a:avLst/>
    </a:prstGeom>
    <a:gradFill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/>
    </a:gradFill>
    <a:ln w="9525" cap="flat" cmpd="sng" algn="ctr">
      <a:solidFill>
        <a:schemeClr val="dk1">
          <a:lumMod val="25000"/>
          <a:lumOff val="75000"/>
        </a:schemeClr>
      </a:solidFill>
      <a:round/>
    </a:ln>
  </c:spPr>
  <c:txPr>
    <a:bodyPr/>
    <a:p>
      <a:pPr>
        <a:defRPr sz="900">
          <a:solidFill>
            <a:schemeClr val="dk1"/>
          </a:solidFill>
          <a:latin typeface="+mn-lt"/>
          <a:ea typeface="+mn-ea"/>
          <a:cs typeface="+mn-cs"/>
        </a:defRPr>
      </a:pPr>
      <a:endParaRPr/>
    </a:p>
  </c:txPr>
  <c:externalData r:id="rId3">
    <c:autoUpdate val="0"/>
  </c:externalData>
  <c:printSettings>
    <c:headerFooter/>
    <c:pageMargins l="0.69999999999999996" r="0.69999999999999996" t="0.75" b="0.75" header="0.29999999999999999" footer="0.29999999999999999"/>
    <c:pageSetup/>
  </c:printSettings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cap="all"/>
  </cs:categoryAxis>
  <cs:chartArea>
    <cs:lnRef idx="0"/>
    <cs:fillRef idx="0"/>
    <cs:effectRef idx="0"/>
    <cs:fontRef idx="minor">
      <a:schemeClr val="dk1"/>
    </cs:fontRef>
    <cs:spPr bwMode="auto">
      <a:prstGeom prst="rect">
        <a:avLst/>
      </a:prstGeom>
      <a:gradFill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lt1"/>
    </cs:fontRef>
    <cs:spPr bwMode="auto">
      <a:prstGeom prst="rect">
        <a:avLst/>
      </a:prstGeom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rotWithShape="0">
          <a:prstClr val="black">
            <a:alpha val="40000"/>
          </a:prstClr>
        </a:outerShdw>
      </a:effectLst>
    </cs:spPr>
    <cs:defRPr sz="1000" b="1" i="0" u="none" strike="noStrike"/>
  </cs:dataLabel>
  <cs:dataPoint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effectLst>
        <a:outerShdw blurRad="254000" sx="102000" sy="102000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effectLst>
        <a:outerShdw blurRad="254000" sx="102000" sy="102000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>
          <a:alpha val="85000"/>
        </a:schemeClr>
      </a:solidFill>
    </cs:spPr>
  </cs:dataPointMarker>
  <cs:dataPointWirefram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 w="9525">
        <a:solidFill>
          <a:schemeClr val="dk1">
            <a:lumMod val="35000"/>
            <a:lumOff val="6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 bwMode="auto">
      <a:prstGeom prst="rect">
        <a:avLst/>
      </a:prstGeom>
      <a:ln w="9525" cap="flat" cmpd="sng" algn="ctr">
        <a:gradFill>
          <a:gsLst>
            <a:gs pos="0">
              <a:schemeClr val="lt1">
                <a:lumMod val="75000"/>
                <a:alpha val="36000"/>
              </a:schemeClr>
            </a:gs>
            <a:gs pos="100000">
              <a:schemeClr val="dk1">
                <a:lumMod val="95000"/>
                <a:lumOff val="5000"/>
                <a:alpha val="42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 bwMode="auto">
      <a:prstGeom prst="rect">
        <a:avLst/>
      </a:prstGeom>
      <a:ln>
        <a:gradFill>
          <a:gsLst>
            <a:gs pos="0">
              <a:schemeClr val="lt1">
                <a:lumMod val="75000"/>
                <a:alpha val="36000"/>
              </a:schemeClr>
            </a:gs>
            <a:gs pos="100000">
              <a:schemeClr val="dk1">
                <a:lumMod val="95000"/>
                <a:lumOff val="5000"/>
                <a:alpha val="42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>
        <a:noFill/>
      </a:ln>
    </cs:spPr>
    <cs:defRPr sz="900"/>
  </cs:valueAxis>
  <cs:wall>
    <cs:lnRef idx="0"/>
    <cs:fillRef idx="0"/>
    <cs:effectRef idx="0"/>
    <cs:fontRef idx="minor">
      <a:schemeClr val="dk1"/>
    </cs:fontRef>
  </cs:wall>
  <cs:dataPointMarkerLayout symbol="circle" size="6"/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cap="all"/>
  </cs:categoryAxis>
  <cs:chartArea>
    <cs:lnRef idx="0"/>
    <cs:fillRef idx="0"/>
    <cs:effectRef idx="0"/>
    <cs:fontRef idx="minor">
      <a:schemeClr val="dk1"/>
    </cs:fontRef>
    <cs:spPr bwMode="auto">
      <a:prstGeom prst="rect">
        <a:avLst/>
      </a:prstGeom>
      <a:gradFill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lt1"/>
    </cs:fontRef>
    <cs:spPr bwMode="auto">
      <a:prstGeom prst="rect">
        <a:avLst/>
      </a:prstGeom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rotWithShape="0">
          <a:prstClr val="black">
            <a:alpha val="40000"/>
          </a:prstClr>
        </a:outerShdw>
      </a:effectLst>
    </cs:spPr>
    <cs:defRPr sz="1000" b="1" i="0" u="none" strike="noStrike"/>
  </cs:dataLabel>
  <cs:dataPoint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effectLst>
        <a:outerShdw blurRad="254000" sx="102000" sy="102000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/>
      </a:solidFill>
      <a:effectLst>
        <a:outerShdw blurRad="254000" sx="102000" sy="102000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 bwMode="auto">
      <a:prstGeom prst="rect">
        <a:avLst/>
      </a:prstGeom>
      <a:solidFill>
        <a:schemeClr val="phClr">
          <a:alpha val="85000"/>
        </a:schemeClr>
      </a:solidFill>
    </cs:spPr>
  </cs:dataPointMarker>
  <cs:dataPointWirefram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 w="9525">
        <a:solidFill>
          <a:schemeClr val="dk1">
            <a:lumMod val="35000"/>
            <a:lumOff val="6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 bwMode="auto">
      <a:prstGeom prst="rect">
        <a:avLst/>
      </a:prstGeom>
      <a:ln w="9525" cap="flat" cmpd="sng" algn="ctr">
        <a:gradFill>
          <a:gsLst>
            <a:gs pos="0">
              <a:schemeClr val="lt1">
                <a:lumMod val="75000"/>
                <a:alpha val="36000"/>
              </a:schemeClr>
            </a:gs>
            <a:gs pos="100000">
              <a:schemeClr val="dk1">
                <a:lumMod val="95000"/>
                <a:lumOff val="5000"/>
                <a:alpha val="42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 bwMode="auto">
      <a:prstGeom prst="rect">
        <a:avLst/>
      </a:prstGeom>
      <a:ln>
        <a:gradFill>
          <a:gsLst>
            <a:gs pos="0">
              <a:schemeClr val="lt1">
                <a:lumMod val="75000"/>
                <a:alpha val="36000"/>
              </a:schemeClr>
            </a:gs>
            <a:gs pos="100000">
              <a:schemeClr val="dk1">
                <a:lumMod val="95000"/>
                <a:lumOff val="5000"/>
                <a:alpha val="42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 bwMode="auto">
      <a:prstGeom prst="rect">
        <a:avLst/>
      </a:prstGeom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>
      <cs:styleClr val="auto"/>
    </cs:lnRef>
    <cs:fillRef idx="0"/>
    <cs:effectRef idx="0"/>
    <cs:fontRef idx="minor">
      <a:schemeClr val="dk1"/>
    </cs:fontRef>
    <cs:spPr bwMode="auto">
      <a:prstGeom prst="rect">
        <a:avLst/>
      </a:prstGeom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 bwMode="auto">
      <a:prstGeom prst="rect">
        <a:avLst/>
      </a:prstGeom>
      <a:ln>
        <a:noFill/>
      </a:ln>
    </cs:spPr>
    <cs:defRPr sz="900"/>
  </cs:valueAxis>
  <cs:wall>
    <cs:lnRef idx="0"/>
    <cs:fillRef idx="0"/>
    <cs:effectRef idx="0"/>
    <cs:fontRef idx="minor">
      <a:schemeClr val="dk1"/>
    </cs:fontRef>
  </cs:wall>
  <cs:dataPointMarkerLayout symbol="circle" size="6"/>
</cs:chartStyl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5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6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media2.svg"/><Relationship Id="rId4" Type="http://schemas.openxmlformats.org/officeDocument/2006/relationships/image" Target="../media/image8.png"/><Relationship Id="rId5" Type="http://schemas.openxmlformats.org/officeDocument/2006/relationships/image" Target="../media/media3.sv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media4.svg"/><Relationship Id="rId9" Type="http://schemas.openxmlformats.org/officeDocument/2006/relationships/image" Target="../media/image11.png"/><Relationship Id="rId10" Type="http://schemas.openxmlformats.org/officeDocument/2006/relationships/image" Target="../media/media5.svg"/><Relationship Id="rId11" Type="http://schemas.openxmlformats.org/officeDocument/2006/relationships/image" Target="../media/image12.png"/><Relationship Id="rId12" Type="http://schemas.openxmlformats.org/officeDocument/2006/relationships/image" Target="../media/media6.svg"/><Relationship Id="rId13" Type="http://schemas.openxmlformats.org/officeDocument/2006/relationships/image" Target="../media/image13.png"/><Relationship Id="rId14" Type="http://schemas.openxmlformats.org/officeDocument/2006/relationships/image" Target="../media/media7.sv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media1.sv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Научно-технологический потенциал</a:t>
            </a:r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rcRect l="1627" t="0" r="0" b="0"/>
          <a:stretch/>
        </p:blipFill>
        <p:spPr bwMode="auto">
          <a:xfrm>
            <a:off x="438151" y="443508"/>
            <a:ext cx="7486650" cy="4280892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5"/>
          <a:srcRect l="1002" t="12430" r="1" b="13204"/>
          <a:stretch/>
        </p:blipFill>
        <p:spPr bwMode="auto">
          <a:xfrm>
            <a:off x="412749" y="420180"/>
            <a:ext cx="7521576" cy="42375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итул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12497" y="443914"/>
            <a:ext cx="550832" cy="46716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0" y="6728221"/>
            <a:ext cx="12192000" cy="1297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5"/>
          <a:srcRect l="0" t="0" r="0" b="12753"/>
          <a:stretch/>
        </p:blipFill>
        <p:spPr bwMode="auto">
          <a:xfrm>
            <a:off x="447674" y="434147"/>
            <a:ext cx="7458076" cy="42616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Новый раздел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72753" y="1394435"/>
            <a:ext cx="12046494" cy="54635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 rot="5400000">
            <a:off x="-1085851" y="1085853"/>
            <a:ext cx="2419352" cy="2476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5400000">
            <a:off x="-55530" y="300038"/>
            <a:ext cx="847725" cy="2476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 rot="10800000">
            <a:off x="2577830" y="6610988"/>
            <a:ext cx="9614170" cy="24701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 bwMode="auto">
          <a:xfrm rot="10800000">
            <a:off x="8394969" y="6365546"/>
            <a:ext cx="3797030" cy="247012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700775" y="1122363"/>
            <a:ext cx="9967225" cy="1278072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нового раздела</a:t>
            </a:r>
            <a:endParaRPr lang="en-US"/>
          </a:p>
        </p:txBody>
      </p:sp>
      <p:sp>
        <p:nvSpPr>
          <p:cNvPr id="15" name="Заголовок 1"/>
          <p:cNvSpPr txBox="1"/>
          <p:nvPr userDrawn="1"/>
        </p:nvSpPr>
        <p:spPr bwMode="auto">
          <a:xfrm>
            <a:off x="700774" y="4931863"/>
            <a:ext cx="9967225" cy="1278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bg1"/>
                </a:solidFill>
                <a:latin typeface="Onest Bold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>
                <a:latin typeface="Onest SemiBold"/>
              </a:rPr>
              <a:t>01</a:t>
            </a:r>
            <a:endParaRPr lang="en-US">
              <a:latin typeface="Onest SemiBold"/>
            </a:endParaRPr>
          </a:p>
        </p:txBody>
      </p:sp>
      <p:sp>
        <p:nvSpPr>
          <p:cNvPr id="16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691081" y="2687637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nest SemiBold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Подзаголовок раздела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rcRect l="0" t="0" r="0" b="18347"/>
          <a:stretch/>
        </p:blipFill>
        <p:spPr bwMode="auto">
          <a:xfrm>
            <a:off x="0" y="1"/>
            <a:ext cx="8414535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инальный слайд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rcRect l="21018" t="16020" r="21256" b="0"/>
          <a:stretch/>
        </p:blipFill>
        <p:spPr bwMode="auto">
          <a:xfrm>
            <a:off x="0" y="0"/>
            <a:ext cx="8380520" cy="6858000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485775" y="1327779"/>
            <a:ext cx="7662863" cy="1398775"/>
          </a:xfrm>
        </p:spPr>
        <p:txBody>
          <a:bodyPr anchor="t">
            <a:normAutofit/>
          </a:bodyPr>
          <a:lstStyle>
            <a:lvl1pPr algn="l">
              <a:defRPr sz="5400" b="0">
                <a:solidFill>
                  <a:schemeClr val="bg1"/>
                </a:solidFill>
                <a:latin typeface="Onest SemiBold"/>
              </a:defRPr>
            </a:lvl1pPr>
          </a:lstStyle>
          <a:p>
            <a:pPr>
              <a:lnSpc>
                <a:spcPct val="90000"/>
              </a:lnSpc>
              <a:defRPr/>
            </a:pP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БЛАГОДАРЮ </a:t>
            </a:r>
            <a:b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</a:br>
            <a:r>
              <a:rPr lang="ru-RU" sz="5400">
                <a:solidFill>
                  <a:schemeClr val="bg1"/>
                </a:solidFill>
                <a:latin typeface="Onest SemiBold"/>
                <a:ea typeface="Rubik SemiBold"/>
                <a:cs typeface="Arial"/>
              </a:rPr>
              <a:t>ЗА ВНИМАНИЕ!</a:t>
            </a:r>
            <a:endParaRPr lang="en-US" sz="5400" i="0" u="none" strike="noStrike" cap="none">
              <a:solidFill>
                <a:schemeClr val="bg1"/>
              </a:solidFill>
              <a:latin typeface="Onest SemiBold"/>
              <a:ea typeface="Rubik SemiBold"/>
              <a:cs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978286" y="443913"/>
            <a:ext cx="785043" cy="66579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0" y="3102429"/>
            <a:ext cx="6327321" cy="898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инальный слайд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инальный слайд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rcRect l="7783" t="7781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0"/>
            <a:ext cx="336831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нтент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01262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112778" y="366045"/>
            <a:ext cx="3888597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7112777" y="6207647"/>
            <a:ext cx="3888597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нтент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  <p:sp>
        <p:nvSpPr>
          <p:cNvPr id="1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1754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0" y="6728221"/>
            <a:ext cx="12192000" cy="129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нтент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1" y="6207648"/>
            <a:ext cx="2743200" cy="365125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408088" y="366045"/>
            <a:ext cx="9407382" cy="1294625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 lang="en-US"/>
          </a:p>
        </p:txBody>
      </p:sp>
      <p:sp>
        <p:nvSpPr>
          <p:cNvPr id="1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8" y="6207647"/>
            <a:ext cx="5597382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1208576" y="488301"/>
            <a:ext cx="554754" cy="47048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Научно-технологический потенциал</a:t>
            </a:r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НАУЧНО-ТЕХНОЛОГИЧЕСКИЙ ПОТЕНЦИАЛ</a:t>
            </a: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Relationship Id="rId3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 /><Relationship Id="rId3" Type="http://schemas.openxmlformats.org/officeDocument/2006/relationships/chart" Target="../charts/char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 bwMode="auto">
          <a:xfrm>
            <a:off x="2367263" y="5921495"/>
            <a:ext cx="372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УПРАВЛЕНИЕ ПО СВЯЗЯМ </a:t>
            </a:r>
            <a:br>
              <a:rPr lang="en-US" sz="1600">
                <a:solidFill>
                  <a:schemeClr val="bg1"/>
                </a:solidFill>
                <a:latin typeface="Onest SemiBold"/>
                <a:cs typeface="Rubik SemiBold"/>
              </a:rPr>
            </a:br>
            <a:r>
              <a:rPr lang="ru-RU" sz="1600">
                <a:solidFill>
                  <a:schemeClr val="bg1"/>
                </a:solidFill>
                <a:latin typeface="Onest SemiBold"/>
                <a:cs typeface="Rubik SemiBold"/>
              </a:rPr>
              <a:t>С ОБЩЕСТВЕННОСТЬЮ СПБПУ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34559" t="1" r="0" b="9893"/>
          <a:stretch/>
        </p:blipFill>
        <p:spPr bwMode="auto">
          <a:xfrm>
            <a:off x="0" y="1"/>
            <a:ext cx="4046899" cy="559730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4046018" y="2395247"/>
            <a:ext cx="6850582" cy="3167350"/>
          </a:xfrm>
          <a:prstGeom prst="rect">
            <a:avLst/>
          </a:prstGeom>
          <a:gradFill>
            <a:gsLst>
              <a:gs pos="0">
                <a:srgbClr val="004C22"/>
              </a:gs>
              <a:gs pos="100000">
                <a:srgbClr val="32932D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auto">
          <a:xfrm rot="5400000">
            <a:off x="9771186" y="1125414"/>
            <a:ext cx="3546228" cy="1295401"/>
          </a:xfrm>
          <a:prstGeom prst="rect">
            <a:avLst/>
          </a:prstGeom>
          <a:gradFill>
            <a:gsLst>
              <a:gs pos="0">
                <a:srgbClr val="FC4921"/>
              </a:gs>
              <a:gs pos="100000">
                <a:srgbClr val="F29262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 rot="10800000">
            <a:off x="0" y="5562597"/>
            <a:ext cx="6203950" cy="1295402"/>
          </a:xfrm>
          <a:prstGeom prst="rect">
            <a:avLst/>
          </a:prstGeom>
          <a:gradFill>
            <a:gsLst>
              <a:gs pos="0">
                <a:srgbClr val="3D2E69"/>
              </a:gs>
              <a:gs pos="100000">
                <a:srgbClr val="774395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031206" y="2474172"/>
            <a:ext cx="6871820" cy="189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Тема:</a:t>
            </a:r>
            <a:endParaRPr/>
          </a:p>
          <a:p>
            <a:pPr>
              <a:defRPr/>
            </a:pP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Обзор на 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L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i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n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u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x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. 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L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i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n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u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x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 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V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S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 другие 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O</a:t>
            </a:r>
            <a:r>
              <a:rPr lang="ru-RU" sz="2800">
                <a:solidFill>
                  <a:schemeClr val="bg1"/>
                </a:solidFill>
                <a:latin typeface="Onest Bold"/>
                <a:ea typeface="Rubik SemiBold"/>
                <a:cs typeface="Times New Roman"/>
              </a:rPr>
              <a:t>C</a:t>
            </a:r>
            <a:endParaRPr lang="ru-RU" sz="2800">
              <a:solidFill>
                <a:schemeClr val="bg1"/>
              </a:solidFill>
              <a:latin typeface="Onest Bold"/>
              <a:ea typeface="Rubik SemiBold"/>
              <a:cs typeface="Times New Roman"/>
            </a:endParaRPr>
          </a:p>
          <a:p>
            <a:pPr>
              <a:defRPr/>
            </a:pPr>
            <a:r>
              <a:rPr lang="ru-RU" sz="440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  <a:t> </a:t>
            </a:r>
            <a:br>
              <a:rPr lang="en-US" sz="4400">
                <a:solidFill>
                  <a:schemeClr val="bg1"/>
                </a:solidFill>
                <a:latin typeface="Onest Bold"/>
                <a:ea typeface="Rubik SemiBold"/>
                <a:cs typeface="Arial"/>
              </a:rPr>
            </a:b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104920" y="5876308"/>
            <a:ext cx="3553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defRPr/>
            </a:pPr>
            <a:r>
              <a:rPr lang="ru-RU">
                <a:solidFill>
                  <a:schemeClr val="bg1"/>
                </a:solidFill>
                <a:latin typeface="+mj-lt"/>
                <a:cs typeface="Times New Roman"/>
              </a:rPr>
              <a:t>Санкт-Петербургский политехнический университет Петра Великого</a:t>
            </a:r>
            <a:endParaRPr>
              <a:latin typeface="+mj-lt"/>
              <a:cs typeface="Times New Roman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8863342" y="1933210"/>
            <a:ext cx="1768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>
                <a:solidFill>
                  <a:srgbClr val="369F31"/>
                </a:solidFill>
                <a:latin typeface="+mj-lt"/>
                <a:ea typeface="Rubik SemiBold"/>
                <a:cs typeface="Times New Roman"/>
              </a:rPr>
              <a:t>2025</a:t>
            </a:r>
            <a:endParaRPr>
              <a:latin typeface="+mj-lt"/>
              <a:cs typeface="Times New Roman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00978" y="443915"/>
            <a:ext cx="669897" cy="568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 flipH="0" flipV="0">
            <a:off x="6308869" y="5597308"/>
            <a:ext cx="6132897" cy="146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Font typeface="Arial"/>
              <a:buNone/>
              <a:defRPr/>
            </a:pPr>
            <a:r>
              <a:rPr lang="ru-RU" sz="1800">
                <a:solidFill>
                  <a:srgbClr val="774395"/>
                </a:solidFill>
                <a:cs typeface="Times New Roman"/>
              </a:rPr>
              <a:t>Выполнили студенты гр. 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№ 4731204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/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5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0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0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0</a:t>
            </a:r>
            <a:r>
              <a:rPr lang="ru-RU" sz="1800">
                <a:solidFill>
                  <a:srgbClr val="774395"/>
                </a:solidFill>
                <a:cs typeface="Times New Roman"/>
              </a:rPr>
              <a:t>2</a:t>
            </a:r>
            <a:br>
              <a:rPr lang="ru-RU" sz="1800">
                <a:solidFill>
                  <a:srgbClr val="774395"/>
                </a:solidFill>
                <a:cs typeface="Times New Roman"/>
              </a:rPr>
            </a:br>
            <a:r>
              <a:rPr lang="ru-RU" sz="1800">
                <a:solidFill>
                  <a:srgbClr val="774395"/>
                </a:solidFill>
                <a:cs typeface="Times New Roman"/>
              </a:rPr>
              <a:t>Сорочинская А.С.</a:t>
            </a:r>
            <a:br>
              <a:rPr lang="ru-RU" sz="1800">
                <a:solidFill>
                  <a:srgbClr val="774395"/>
                </a:solidFill>
                <a:cs typeface="Times New Roman"/>
              </a:rPr>
            </a:br>
            <a:r>
              <a:rPr lang="ru-RU" sz="1800">
                <a:solidFill>
                  <a:srgbClr val="774395"/>
                </a:solidFill>
                <a:cs typeface="Times New Roman"/>
              </a:rPr>
              <a:t>Астафьев Р.А.</a:t>
            </a:r>
            <a:br>
              <a:rPr lang="ru-RU" sz="1800">
                <a:solidFill>
                  <a:srgbClr val="774395"/>
                </a:solidFill>
                <a:cs typeface="Times New Roman"/>
              </a:rPr>
            </a:br>
            <a:r>
              <a:rPr lang="ru-RU" sz="1800">
                <a:solidFill>
                  <a:srgbClr val="774395"/>
                </a:solidFill>
                <a:cs typeface="Times New Roman"/>
              </a:rPr>
              <a:t>Новгородский Ю.Д.</a:t>
            </a:r>
            <a:br>
              <a:rPr lang="ru-RU" sz="1800">
                <a:solidFill>
                  <a:srgbClr val="774395"/>
                </a:solidFill>
                <a:cs typeface="Times New Roman"/>
              </a:rPr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>
                <a:latin typeface="+mn-lt"/>
                <a:cs typeface="Times New Roman"/>
              </a:rPr>
              <a:t/>
            </a:fld>
            <a:endParaRPr lang="en-US">
              <a:latin typeface="+mn-lt"/>
              <a:cs typeface="Times New Roman"/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794172" y="366045"/>
            <a:ext cx="9031457" cy="606009"/>
          </a:xfrm>
        </p:spPr>
        <p:txBody>
          <a:bodyPr/>
          <a:lstStyle/>
          <a:p>
            <a:pPr>
              <a:defRPr/>
            </a:pPr>
            <a:r>
              <a:rPr lang="ru-RU">
                <a:latin typeface="+mj-lt"/>
                <a:cs typeface="Times New Roman"/>
              </a:rPr>
              <a:t>Объект, предмет, цель и задачи исследования 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442926" y="972054"/>
            <a:ext cx="11700044" cy="3049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ru-RU" b="1">
                <a:latin typeface="Onest Regular (Основной текст)"/>
                <a:cs typeface="Times New Roman"/>
              </a:rPr>
              <a:t>Объект</a:t>
            </a:r>
            <a:r>
              <a:rPr lang="ru-RU" b="1">
                <a:latin typeface="Onest Regular (Основной текст)"/>
                <a:cs typeface="Times New Roman"/>
              </a:rPr>
              <a:t>: </a:t>
            </a:r>
            <a:r>
              <a:rPr lang="ru-RU" b="0">
                <a:latin typeface="Onest Regular (Основной текст)"/>
                <a:cs typeface="Times New Roman"/>
              </a:rPr>
              <a:t>Операционные системы, в частности </a:t>
            </a:r>
            <a:r>
              <a:rPr lang="ru-RU" b="0">
                <a:latin typeface="Onest Regular (Основной текст)"/>
                <a:cs typeface="Times New Roman"/>
              </a:rPr>
              <a:t>L</a:t>
            </a:r>
            <a:r>
              <a:rPr lang="ru-RU" b="0">
                <a:latin typeface="Onest Regular (Основной текст)"/>
                <a:cs typeface="Times New Roman"/>
              </a:rPr>
              <a:t>i</a:t>
            </a:r>
            <a:r>
              <a:rPr lang="ru-RU" b="0">
                <a:latin typeface="Onest Regular (Основной текст)"/>
                <a:cs typeface="Times New Roman"/>
              </a:rPr>
              <a:t>n</a:t>
            </a:r>
            <a:r>
              <a:rPr lang="ru-RU" b="0">
                <a:latin typeface="Onest Regular (Основной текст)"/>
                <a:cs typeface="Times New Roman"/>
              </a:rPr>
              <a:t>u</a:t>
            </a:r>
            <a:r>
              <a:rPr lang="ru-RU" b="0">
                <a:latin typeface="Onest Regular (Основной текст)"/>
                <a:cs typeface="Times New Roman"/>
              </a:rPr>
              <a:t>x, </a:t>
            </a:r>
            <a:r>
              <a:rPr lang="ru-RU" b="0">
                <a:latin typeface="Onest Regular (Основной текст)"/>
                <a:cs typeface="Times New Roman"/>
              </a:rPr>
              <a:t>M</a:t>
            </a:r>
            <a:r>
              <a:rPr lang="ru-RU" b="0">
                <a:latin typeface="Onest Regular (Основной текст)"/>
                <a:cs typeface="Times New Roman"/>
              </a:rPr>
              <a:t>a</a:t>
            </a:r>
            <a:r>
              <a:rPr lang="ru-RU" b="0">
                <a:latin typeface="Onest Regular (Основной текст)"/>
                <a:cs typeface="Times New Roman"/>
              </a:rPr>
              <a:t>c</a:t>
            </a:r>
            <a:r>
              <a:rPr lang="ru-RU" b="0">
                <a:latin typeface="Onest Regular (Основной текст)"/>
                <a:cs typeface="Times New Roman"/>
              </a:rPr>
              <a:t>O</a:t>
            </a:r>
            <a:r>
              <a:rPr lang="ru-RU" b="0">
                <a:latin typeface="Onest Regular (Основной текст)"/>
                <a:cs typeface="Times New Roman"/>
              </a:rPr>
              <a:t>S</a:t>
            </a:r>
            <a:r>
              <a:rPr lang="ru-RU" b="0">
                <a:latin typeface="Onest Regular (Основной текст)"/>
                <a:cs typeface="Times New Roman"/>
              </a:rPr>
              <a:t>,</a:t>
            </a:r>
            <a:r>
              <a:rPr lang="ru-RU" b="0">
                <a:latin typeface="Onest Regular (Основной текст)"/>
                <a:cs typeface="Times New Roman"/>
              </a:rPr>
              <a:t> </a:t>
            </a:r>
            <a:r>
              <a:rPr lang="ru-RU" b="0">
                <a:latin typeface="Onest Regular (Основной текст)"/>
                <a:cs typeface="Times New Roman"/>
              </a:rPr>
              <a:t>W</a:t>
            </a:r>
            <a:r>
              <a:rPr lang="ru-RU" b="0">
                <a:latin typeface="Onest Regular (Основной текст)"/>
                <a:cs typeface="Times New Roman"/>
              </a:rPr>
              <a:t>i</a:t>
            </a:r>
            <a:r>
              <a:rPr lang="ru-RU" b="0">
                <a:latin typeface="Onest Regular (Основной текст)"/>
                <a:cs typeface="Times New Roman"/>
              </a:rPr>
              <a:t>n</a:t>
            </a:r>
            <a:r>
              <a:rPr lang="ru-RU" b="0">
                <a:latin typeface="Onest Regular (Основной текст)"/>
                <a:cs typeface="Times New Roman"/>
              </a:rPr>
              <a:t>d</a:t>
            </a:r>
            <a:r>
              <a:rPr lang="ru-RU" b="0">
                <a:latin typeface="Onest Regular (Основной текст)"/>
                <a:cs typeface="Times New Roman"/>
              </a:rPr>
              <a:t>o</a:t>
            </a:r>
            <a:r>
              <a:rPr lang="ru-RU" b="0">
                <a:latin typeface="Onest Regular (Основной текст)"/>
                <a:cs typeface="Times New Roman"/>
              </a:rPr>
              <a:t>w</a:t>
            </a:r>
            <a:r>
              <a:rPr lang="ru-RU" b="0">
                <a:latin typeface="Onest Regular (Основной текст)"/>
                <a:cs typeface="Times New Roman"/>
              </a:rPr>
              <a:t>s</a:t>
            </a:r>
            <a:endParaRPr b="0">
              <a:latin typeface="Onest Regular (Основной текст)"/>
              <a:cs typeface="Times New Roman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defRPr/>
            </a:pPr>
            <a:r>
              <a:rPr lang="ru-RU" b="1">
                <a:latin typeface="Onest Regular (Основной текст)"/>
                <a:cs typeface="Times New Roman"/>
              </a:rPr>
              <a:t>Цель: </a:t>
            </a:r>
            <a:r>
              <a:rPr lang="ru-RU" b="0">
                <a:latin typeface="Onest Regular (Основной текст)"/>
                <a:cs typeface="Times New Roman"/>
              </a:rPr>
              <a:t>Сравнить 3 лидирующие </a:t>
            </a:r>
            <a:r>
              <a:rPr lang="ru-RU" b="0">
                <a:latin typeface="Onest Regular (Основной текст)"/>
                <a:cs typeface="Times New Roman"/>
              </a:rPr>
              <a:t>O</a:t>
            </a:r>
            <a:r>
              <a:rPr lang="ru-RU" b="0">
                <a:latin typeface="Onest Regular (Основной текст)"/>
                <a:cs typeface="Times New Roman"/>
              </a:rPr>
              <a:t>C</a:t>
            </a:r>
            <a:r>
              <a:rPr lang="ru-RU" b="0">
                <a:latin typeface="Onest Regular (Основной текст)"/>
                <a:cs typeface="Times New Roman"/>
              </a:rPr>
              <a:t> </a:t>
            </a:r>
            <a:r>
              <a:rPr lang="ru-RU" b="0">
                <a:latin typeface="Onest Regular (Основной текст)"/>
                <a:cs typeface="Times New Roman"/>
              </a:rPr>
              <a:t>(</a:t>
            </a:r>
            <a:r>
              <a:rPr lang="ru-RU" b="0">
                <a:latin typeface="Onest Regular (Основной текст)"/>
                <a:cs typeface="Times New Roman"/>
              </a:rPr>
              <a:t>L</a:t>
            </a:r>
            <a:r>
              <a:rPr lang="ru-RU" b="0">
                <a:latin typeface="Onest Regular (Основной текст)"/>
                <a:cs typeface="Times New Roman"/>
              </a:rPr>
              <a:t>i</a:t>
            </a:r>
            <a:r>
              <a:rPr lang="ru-RU" b="0">
                <a:latin typeface="Onest Regular (Основной текст)"/>
                <a:cs typeface="Times New Roman"/>
              </a:rPr>
              <a:t>n</a:t>
            </a:r>
            <a:r>
              <a:rPr lang="ru-RU" b="0">
                <a:latin typeface="Onest Regular (Основной текст)"/>
                <a:cs typeface="Times New Roman"/>
              </a:rPr>
              <a:t>u</a:t>
            </a:r>
            <a:r>
              <a:rPr lang="ru-RU" b="0">
                <a:latin typeface="Onest Regular (Основной текст)"/>
                <a:cs typeface="Times New Roman"/>
              </a:rPr>
              <a:t>x</a:t>
            </a:r>
            <a:r>
              <a:rPr lang="ru-RU" b="0">
                <a:latin typeface="Onest Regular (Основной текст)"/>
                <a:cs typeface="Times New Roman"/>
              </a:rPr>
              <a:t>,</a:t>
            </a:r>
            <a:r>
              <a:rPr lang="ru-RU" b="0">
                <a:latin typeface="Onest Regular (Основной текст)"/>
                <a:cs typeface="Times New Roman"/>
              </a:rPr>
              <a:t> </a:t>
            </a:r>
            <a:r>
              <a:rPr lang="ru-RU" b="0">
                <a:latin typeface="Onest Regular (Основной текст)"/>
                <a:cs typeface="Times New Roman"/>
              </a:rPr>
              <a:t>M</a:t>
            </a:r>
            <a:r>
              <a:rPr lang="ru-RU" b="0">
                <a:latin typeface="Onest Regular (Основной текст)"/>
                <a:cs typeface="Times New Roman"/>
              </a:rPr>
              <a:t>a</a:t>
            </a:r>
            <a:r>
              <a:rPr lang="ru-RU" b="0">
                <a:latin typeface="Onest Regular (Основной текст)"/>
                <a:cs typeface="Times New Roman"/>
              </a:rPr>
              <a:t>c</a:t>
            </a:r>
            <a:r>
              <a:rPr lang="ru-RU" b="0">
                <a:latin typeface="Onest Regular (Основной текст)"/>
                <a:cs typeface="Times New Roman"/>
              </a:rPr>
              <a:t>O</a:t>
            </a:r>
            <a:r>
              <a:rPr lang="ru-RU" b="0">
                <a:latin typeface="Onest Regular (Основной текст)"/>
                <a:cs typeface="Times New Roman"/>
              </a:rPr>
              <a:t>S</a:t>
            </a:r>
            <a:r>
              <a:rPr lang="ru-RU" b="0">
                <a:latin typeface="Onest Regular (Основной текст)"/>
                <a:cs typeface="Times New Roman"/>
              </a:rPr>
              <a:t>,</a:t>
            </a:r>
            <a:r>
              <a:rPr lang="ru-RU" b="0">
                <a:latin typeface="Onest Regular (Основной текст)"/>
                <a:cs typeface="Times New Roman"/>
              </a:rPr>
              <a:t> </a:t>
            </a:r>
            <a:r>
              <a:rPr lang="ru-RU" b="0">
                <a:latin typeface="Onest Regular (Основной текст)"/>
                <a:cs typeface="Times New Roman"/>
              </a:rPr>
              <a:t>W</a:t>
            </a:r>
            <a:r>
              <a:rPr lang="ru-RU" b="0">
                <a:latin typeface="Onest Regular (Основной текст)"/>
                <a:cs typeface="Times New Roman"/>
              </a:rPr>
              <a:t>i</a:t>
            </a:r>
            <a:r>
              <a:rPr lang="ru-RU" b="0">
                <a:latin typeface="Onest Regular (Основной текст)"/>
                <a:cs typeface="Times New Roman"/>
              </a:rPr>
              <a:t>n</a:t>
            </a:r>
            <a:r>
              <a:rPr lang="ru-RU" b="0">
                <a:latin typeface="Onest Regular (Основной текст)"/>
                <a:cs typeface="Times New Roman"/>
              </a:rPr>
              <a:t>d</a:t>
            </a:r>
            <a:r>
              <a:rPr lang="ru-RU" b="0">
                <a:latin typeface="Onest Regular (Основной текст)"/>
                <a:cs typeface="Times New Roman"/>
              </a:rPr>
              <a:t>o</a:t>
            </a:r>
            <a:r>
              <a:rPr lang="ru-RU" b="0">
                <a:latin typeface="Onest Regular (Основной текст)"/>
                <a:cs typeface="Times New Roman"/>
              </a:rPr>
              <a:t>w</a:t>
            </a:r>
            <a:r>
              <a:rPr lang="ru-RU" b="0">
                <a:latin typeface="Onest Regular (Основной текст)"/>
                <a:cs typeface="Times New Roman"/>
              </a:rPr>
              <a:t>s</a:t>
            </a:r>
            <a:r>
              <a:rPr lang="ru-RU" b="0">
                <a:latin typeface="Onest Regular (Основной текст)"/>
                <a:cs typeface="Times New Roman"/>
              </a:rPr>
              <a:t>), выделить плюсы и минусы каждой. Сделать общий вывод о трех </a:t>
            </a:r>
            <a:r>
              <a:rPr lang="ru-RU" b="0">
                <a:latin typeface="Onest Regular (Основной текст)"/>
                <a:cs typeface="Times New Roman"/>
              </a:rPr>
              <a:t>O</a:t>
            </a:r>
            <a:r>
              <a:rPr lang="ru-RU" b="0">
                <a:latin typeface="Onest Regular (Основной текст)"/>
                <a:cs typeface="Times New Roman"/>
              </a:rPr>
              <a:t>C</a:t>
            </a:r>
            <a:r>
              <a:rPr lang="ru-RU" b="0">
                <a:latin typeface="Onest Regular (Основной текст)"/>
                <a:cs typeface="Times New Roman"/>
              </a:rPr>
              <a:t> на основе исследования </a:t>
            </a:r>
            <a:endParaRPr b="0">
              <a:solidFill>
                <a:srgbClr val="000000"/>
              </a:solidFill>
              <a:latin typeface="Onest Regular (Основной текст)"/>
              <a:ea typeface="Times New Roman"/>
              <a:cs typeface="Times New Roman"/>
            </a:endParaRPr>
          </a:p>
          <a:p>
            <a:pPr>
              <a:defRPr/>
            </a:pPr>
            <a:r>
              <a:rPr lang="ru-RU" b="1">
                <a:latin typeface="Onest Regular (Основной текст)"/>
                <a:cs typeface="Times New Roman"/>
              </a:rPr>
              <a:t>Задачи</a:t>
            </a:r>
            <a:r>
              <a:rPr lang="ru-RU" b="1">
                <a:latin typeface="Onest Regular (Основной текст)"/>
                <a:cs typeface="Times New Roman"/>
              </a:rPr>
              <a:t>:</a:t>
            </a:r>
            <a:endParaRPr lang="ru-RU" b="1">
              <a:latin typeface="Onest Regular (Основной текст)"/>
              <a:cs typeface="Times New Roman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Собрать и изучить сведения представленные об объекте исследования в литературе;</a:t>
            </a:r>
            <a:endParaRPr sz="1800">
              <a:latin typeface="Onest Regular"/>
              <a:cs typeface="Onest Regular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●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Провести анализ текущего состояния объекта исследования;</a:t>
            </a:r>
            <a:endParaRPr sz="1800">
              <a:latin typeface="Onest Regular"/>
              <a:cs typeface="Onest Regular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●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Выделить преимущества 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и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н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е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д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о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с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т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а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т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к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и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Windows, MacOS, Linux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;</a:t>
            </a:r>
            <a:endParaRPr sz="1800">
              <a:latin typeface="Onest Regular"/>
              <a:cs typeface="Onest Regular"/>
            </a:endParaRPr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●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Выделить сферы применения Windows, MacOS, Linux и привести их примеры</a:t>
            </a:r>
            <a: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.</a:t>
            </a:r>
            <a:br>
              <a:rPr sz="1800" b="0" i="0" u="none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</a:b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●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С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р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а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в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н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т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ь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Windows, MacOS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Linux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п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о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с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а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м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ы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м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в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а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ж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н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ы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м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к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р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т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е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р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и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я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Onest Regular"/>
                <a:ea typeface="Onest Regular"/>
                <a:cs typeface="Onest Regular"/>
              </a:rPr>
              <a:t>м</a:t>
            </a:r>
            <a:endParaRPr sz="1800">
              <a:latin typeface="Onest"/>
              <a:cs typeface="Ones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Заголовок 5"/>
          <p:cNvSpPr txBox="1"/>
          <p:nvPr/>
        </p:nvSpPr>
        <p:spPr bwMode="auto">
          <a:xfrm>
            <a:off x="794172" y="366045"/>
            <a:ext cx="10382909" cy="6060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Onest SemiBold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3600" b="1"/>
              <a:t>Распространенность </a:t>
            </a:r>
            <a:r>
              <a:rPr lang="ru-RU" sz="3600" b="1"/>
              <a:t>O</a:t>
            </a:r>
            <a:r>
              <a:rPr lang="ru-RU" sz="3600" b="1"/>
              <a:t>C</a:t>
            </a:r>
            <a:endParaRPr sz="3600" b="1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  <p:sp>
        <p:nvSpPr>
          <p:cNvPr id="1200429645" name=""/>
          <p:cNvSpPr txBox="1"/>
          <p:nvPr/>
        </p:nvSpPr>
        <p:spPr bwMode="auto">
          <a:xfrm flipH="0" flipV="0">
            <a:off x="389344" y="1239174"/>
            <a:ext cx="6113365" cy="2652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Onest"/>
                <a:ea typeface="Onest"/>
                <a:cs typeface="Onest"/>
              </a:rPr>
              <a:t>Настольные компьютеры и ноутбуки (Desktop/Laptop)</a:t>
            </a:r>
            <a:br>
              <a:rPr sz="1800" b="1" i="0" u="none">
                <a:solidFill>
                  <a:srgbClr val="0F1115"/>
                </a:solidFill>
                <a:latin typeface="Onest"/>
                <a:ea typeface="Onest"/>
                <a:cs typeface="Onest"/>
              </a:rPr>
            </a:b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Это самый привычный для большинства пользователей сегмент. Данные собираются аналитическими компаниями (Statcounter, NetMarketShare) на основе посещения веб-сайтов.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Общая картина на 2023-2024 годы: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Microsoft Windows: ~72-75%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Доминирующая система</a:t>
            </a: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для домашних и офисных ПК по всему миру.</a:t>
            </a: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Apple macOS: </a:t>
            </a: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~15-17%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Стабильно занимает второе место.</a:t>
            </a: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Linux: ~2.5-3.5%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На деле, доля Linux "на столе" может быть несколько выше, но в глобальной статистике она редко превышает 4%</a:t>
            </a: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</p:txBody>
      </p:sp>
      <p:graphicFrame>
        <p:nvGraphicFramePr>
          <p:cNvPr id="314841451" name=""/>
          <p:cNvGraphicFramePr>
            <a:graphicFrameLocks xmlns:a="http://schemas.openxmlformats.org/drawingml/2006/main"/>
          </p:cNvGraphicFramePr>
          <p:nvPr/>
        </p:nvGraphicFramePr>
        <p:xfrm>
          <a:off x="6801320" y="1174441"/>
          <a:ext cx="4740596" cy="2716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14384206" name=""/>
          <p:cNvSpPr txBox="1"/>
          <p:nvPr/>
        </p:nvSpPr>
        <p:spPr bwMode="auto">
          <a:xfrm flipH="0" flipV="0">
            <a:off x="389344" y="4058447"/>
            <a:ext cx="5865841" cy="2149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5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Серверы и дата-центры (Web Servers)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Здесь картина кардинально меняется. Linux — безоговорочный лидер.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Linux: ~90% и более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Абсолютное большинство серверов в интернете работают под управлением Linux.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 Server: ~5-7%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Используется в корпоративных сетях, где требуется тесная интеграция с инфраструктурой на Windows (Active Directory, MS SQL Server, SharePoint).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Другие UNIX-подобные системы (BSD): ~1-2%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Например, FreeBSD, известная своей надежностью (используется в Netflix, WhatsApp до покупки Facebook).</a:t>
            </a:r>
            <a:endParaRPr/>
          </a:p>
        </p:txBody>
      </p:sp>
      <p:graphicFrame>
        <p:nvGraphicFramePr>
          <p:cNvPr id="841406252" name=""/>
          <p:cNvGraphicFramePr>
            <a:graphicFrameLocks xmlns:a="http://schemas.openxmlformats.org/drawingml/2006/main"/>
          </p:cNvGraphicFramePr>
          <p:nvPr/>
        </p:nvGraphicFramePr>
        <p:xfrm>
          <a:off x="6801320" y="3963720"/>
          <a:ext cx="4740596" cy="2609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Заголовок 5"/>
          <p:cNvSpPr txBox="1"/>
          <p:nvPr/>
        </p:nvSpPr>
        <p:spPr bwMode="auto">
          <a:xfrm>
            <a:off x="794172" y="366045"/>
            <a:ext cx="10382909" cy="6060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Onest SemiBold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sz="3600" b="1" i="0" u="none">
                <a:solidFill>
                  <a:srgbClr val="0F1115"/>
                </a:solidFill>
                <a:latin typeface="Onest"/>
                <a:ea typeface="Onest"/>
                <a:cs typeface="Onest"/>
              </a:rPr>
              <a:t>Стоимость и доступность</a:t>
            </a:r>
            <a:endParaRPr sz="2800">
              <a:latin typeface="Onest"/>
              <a:cs typeface="Onest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  <p:sp>
        <p:nvSpPr>
          <p:cNvPr id="2089587296" name=""/>
          <p:cNvSpPr txBox="1"/>
          <p:nvPr/>
        </p:nvSpPr>
        <p:spPr bwMode="auto">
          <a:xfrm flipH="0" flipV="0">
            <a:off x="592791" y="1488859"/>
            <a:ext cx="10088854" cy="411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Windows: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Платная.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Лицензия стоит денег (часто включена в цену нового ПК).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Закрытый код. Модифицировать систему нельзя.</a:t>
            </a:r>
            <a:endParaRPr sz="2200" b="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macOS: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Условно-бесплатная.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Поставляется исключительно с компьютерами Apple (MacBook, iMac), которые имеют высокую цену.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Закрытый код.</a:t>
            </a:r>
            <a:endParaRPr sz="2200" b="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Linux: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Абсолютно бесплатна.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99,9% дистрибутивов можно свободно скачать и установить на неограниченное количество компьютеров.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Открытый исходный код.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Можно изучать, изменять и распространять код.</a:t>
            </a:r>
            <a:endParaRPr sz="2200" b="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Вывод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й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 — безоговорочный лидер по доступности.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Заголовок 5"/>
          <p:cNvSpPr txBox="1"/>
          <p:nvPr/>
        </p:nvSpPr>
        <p:spPr bwMode="auto">
          <a:xfrm>
            <a:off x="794172" y="366045"/>
            <a:ext cx="10382909" cy="6060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Onest SemiBold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sz="3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Безопасность и стабильность</a:t>
            </a:r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AB6C55-58EA-40D4-AEDD-ACF6FA1FB47F}" type="slidenum">
              <a:rPr lang="en-US"/>
              <a:t/>
            </a:fld>
            <a:endParaRPr lang="en-US"/>
          </a:p>
        </p:txBody>
      </p:sp>
      <p:sp>
        <p:nvSpPr>
          <p:cNvPr id="1566895799" name=""/>
          <p:cNvSpPr txBox="1"/>
          <p:nvPr/>
        </p:nvSpPr>
        <p:spPr bwMode="auto">
          <a:xfrm flipH="0" flipV="0">
            <a:off x="630299" y="1183688"/>
            <a:ext cx="1054750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56075234" name=""/>
          <p:cNvSpPr/>
          <p:nvPr/>
        </p:nvSpPr>
        <p:spPr bwMode="auto">
          <a:xfrm flipH="0" flipV="0">
            <a:off x="630299" y="1183688"/>
            <a:ext cx="10446455" cy="51210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Windows: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Главная цель для вирусов и хакеров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из-за своей массовости.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Требует установки антивируса.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Частые обновления, иногда вызывающие проблемы.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macOS: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Более защищена.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Меньшая доля рынка + UNIX-основа + закрытая экосистема делают её менее привлекательной целью.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Высокая стабильность.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Linux: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Очень высокий уровень безопасности.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Архитектура прав доступа (никто не работает из-под root) не позволяет вирусам легко распространяться.</a:t>
            </a:r>
            <a:endParaRPr sz="2200" b="0"/>
          </a:p>
          <a:p>
            <a:pPr>
              <a:defRPr/>
            </a:pP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Исключительная стабильность.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Может работать месяцами без перезагрузки. Серверы по всему миру работают на Linux.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Вывод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й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2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 и macOS значительно безопаснее и стабильнее Windows</a:t>
            </a:r>
            <a:endParaRPr sz="2200" b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371872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0" y="6207647"/>
            <a:ext cx="2743200" cy="365124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B1198AF8-1674-BE24-2BBA-EA76748C2741}" type="slidenum">
              <a:rPr lang="en-US"/>
              <a:t/>
            </a:fld>
            <a:endParaRPr lang="en-US"/>
          </a:p>
        </p:txBody>
      </p:sp>
      <p:sp>
        <p:nvSpPr>
          <p:cNvPr id="1680235486" name="Заголовок 1"/>
          <p:cNvSpPr>
            <a:spLocks noGrp="1"/>
          </p:cNvSpPr>
          <p:nvPr>
            <p:ph type="title" hasCustomPrompt="1"/>
          </p:nvPr>
        </p:nvSpPr>
        <p:spPr bwMode="auto">
          <a:xfrm flipH="0" flipV="0">
            <a:off x="990436" y="266486"/>
            <a:ext cx="10024367" cy="12946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 algn="ctr">
              <a:defRPr/>
            </a:pPr>
            <a:r>
              <a:rPr sz="3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Программное обеспечение и совместимость</a:t>
            </a:r>
            <a:endParaRPr sz="3600"/>
          </a:p>
        </p:txBody>
      </p:sp>
      <p:sp>
        <p:nvSpPr>
          <p:cNvPr id="123565267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7" y="6207646"/>
            <a:ext cx="5597381" cy="365124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sp>
        <p:nvSpPr>
          <p:cNvPr id="1680066366" name=""/>
          <p:cNvSpPr txBox="1"/>
          <p:nvPr/>
        </p:nvSpPr>
        <p:spPr bwMode="auto">
          <a:xfrm flipH="0" flipV="0">
            <a:off x="759247" y="1561111"/>
            <a:ext cx="10265277" cy="502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Windows: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и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е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р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по количеству софта.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Все популярные игры, офисные пакеты (Microsoft Office), профессиональные программы (Adobe Photoshop, AutoCAD) выходят в первую очередь для Windows.</a:t>
            </a:r>
            <a:endParaRPr sz="1800" b="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Плюс: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Совместимость с огромным парком периферии (принтеры, сканеры и т.д.).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macOS: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Много качественного софта, особенно в творческих областях (Final Cut Pro, Logic Pro, Sketch).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Есть версии популярных программ, но выбор меньше, чем у Windows.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Игровая поддержка слабая.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Linux: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Проблема с проприетарным софтом.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Нет официальных версий Adobe Creative Suite, Microsoft Office и многих AAA-игр.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Решение: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Существуют отличные бесплатные аналоги (GIMP, LibreOffice, Inkscape). Технология Wine и Proton (от Valve для Steam) позволяет запускать многие Windows-программы и игры.</a:t>
            </a:r>
            <a:endParaRPr sz="1800" b="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Вывод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й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18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 — лучший выбор для геймеров и пользователей специфического проприетарного ПО.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0628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0" y="6207647"/>
            <a:ext cx="2743200" cy="365124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0C63F8D3-4636-CEDA-0B42-F771A99B5255}" type="slidenum">
              <a:rPr lang="en-US"/>
              <a:t/>
            </a:fld>
            <a:endParaRPr lang="en-US"/>
          </a:p>
        </p:txBody>
      </p:sp>
      <p:sp>
        <p:nvSpPr>
          <p:cNvPr id="12446280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531691" y="366044"/>
            <a:ext cx="9417541" cy="12946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 algn="ctr">
              <a:defRPr/>
            </a:pPr>
            <a:r>
              <a:rPr sz="3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Пользовательский интерфейс и гибкость</a:t>
            </a:r>
            <a:endParaRPr sz="3600"/>
          </a:p>
        </p:txBody>
      </p:sp>
      <p:sp>
        <p:nvSpPr>
          <p:cNvPr id="134352359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7" y="6207646"/>
            <a:ext cx="5597381" cy="365124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sp>
        <p:nvSpPr>
          <p:cNvPr id="912939909" name=""/>
          <p:cNvSpPr txBox="1"/>
          <p:nvPr/>
        </p:nvSpPr>
        <p:spPr bwMode="auto">
          <a:xfrm flipH="0" flipV="0">
            <a:off x="565048" y="1660669"/>
            <a:ext cx="10392104" cy="405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Windows: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Удобный и привычный интерфейс (кнопка "Пуск", панель задач).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Настройка ограничена. Все пользователи получают схожий опыт.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macOS: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Элегантный, интуитивно понятный и единообразный интерфейс.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Гибкость настройки средняя. Apple диктует свои правила.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Linux: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Абсолютная свобода!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Здесь не один интерфейс, а десятки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окружений рабочего стола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(GNOME, KDE Plasma, XFCE, Cinnamon и др.).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Можно сделать систему похожей на Windows, macOS или создать что-то уникальное.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Минус: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Кривая обучения может быть крутой для новичков.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Вывод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й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 предлагает невероятную гибкость для тех, кто хочет настроить всё "под себя"</a:t>
            </a:r>
            <a:endParaRPr sz="2000" b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211015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0" y="6207647"/>
            <a:ext cx="2743200" cy="365124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6B0DC82-AE14-7259-583C-8801DDFAEB76}" type="slidenum">
              <a:rPr lang="en-US"/>
              <a:t/>
            </a:fld>
            <a:endParaRPr lang="en-US"/>
          </a:p>
        </p:txBody>
      </p:sp>
      <p:sp>
        <p:nvSpPr>
          <p:cNvPr id="1511195388" name="Заголовок 1"/>
          <p:cNvSpPr>
            <a:spLocks noGrp="1"/>
          </p:cNvSpPr>
          <p:nvPr>
            <p:ph type="title" hasCustomPrompt="1"/>
          </p:nvPr>
        </p:nvSpPr>
        <p:spPr bwMode="auto">
          <a:xfrm flipH="0" flipV="0">
            <a:off x="546801" y="273569"/>
            <a:ext cx="10656786" cy="12946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 algn="ctr">
              <a:defRPr/>
            </a:pPr>
            <a:r>
              <a:rPr sz="3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36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ля кого предназначена</a:t>
            </a:r>
            <a:br>
              <a:rPr sz="12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</a:br>
            <a:endParaRPr sz="3600"/>
          </a:p>
        </p:txBody>
      </p:sp>
      <p:sp>
        <p:nvSpPr>
          <p:cNvPr id="33397079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7" y="6207646"/>
            <a:ext cx="5597381" cy="365124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sp>
        <p:nvSpPr>
          <p:cNvPr id="1239154497" name=""/>
          <p:cNvSpPr txBox="1"/>
          <p:nvPr/>
        </p:nvSpPr>
        <p:spPr bwMode="auto">
          <a:xfrm flipH="0" flipV="0">
            <a:off x="1027427" y="1303907"/>
            <a:ext cx="99141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872131329" name=""/>
          <p:cNvSpPr txBox="1"/>
          <p:nvPr/>
        </p:nvSpPr>
        <p:spPr bwMode="auto">
          <a:xfrm flipH="0" flipV="0">
            <a:off x="546801" y="1303907"/>
            <a:ext cx="9923837" cy="46638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Для кого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Обычные пользователи, офисные работники, геймеры.</a:t>
            </a:r>
            <a:endParaRPr sz="2000" b="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Технологии: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Много "магии" под капотом, скрытой от пользователя.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macOS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Для кого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Дизайнеры, разработчики, музыканты, все, кто ценит удобство и интеграцию в экосистему Apple.</a:t>
            </a:r>
            <a:endParaRPr sz="2000" b="0"/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Технологии: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Основана на UNIX, что делает её мощной и стабильной.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Для кого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Программисты, системные администраторы, энтузиасты, все, кто хочет понять, как работает компьютер.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Технологии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Мощный терминал (командная строка) — это главный инструмент управления. Прозрачность и контроль над всеми процессами.</a:t>
            </a:r>
            <a:endParaRPr sz="2000" b="0"/>
          </a:p>
          <a:p>
            <a:pPr>
              <a:defRPr/>
            </a:pP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Вывод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п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с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л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а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й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д</a:t>
            </a:r>
            <a:r>
              <a:rPr sz="2000" b="1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у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: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 — это ОС для обучения и полного контроля, macOS — для комфортной работы, Windows — для максимальной совместимости и развлечений.</a:t>
            </a:r>
            <a:endParaRPr sz="2000" b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604408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0" y="6207647"/>
            <a:ext cx="2743200" cy="365124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6E6EB248-69E2-E0D3-3BA6-E327B766117C}" type="slidenum">
              <a:rPr lang="en-US"/>
              <a:t/>
            </a:fld>
            <a:endParaRPr lang="en-US"/>
          </a:p>
        </p:txBody>
      </p:sp>
      <p:sp>
        <p:nvSpPr>
          <p:cNvPr id="63004436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1219" y="530105"/>
            <a:ext cx="9417541" cy="12946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 algn="ctr">
              <a:defRPr/>
            </a:pPr>
            <a:r>
              <a:rPr lang="ru-RU" sz="3600"/>
              <a:t>Итоговая таблица сравнения</a:t>
            </a:r>
            <a:endParaRPr/>
          </a:p>
        </p:txBody>
      </p:sp>
      <p:sp>
        <p:nvSpPr>
          <p:cNvPr id="38964258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7" y="6207646"/>
            <a:ext cx="5597381" cy="365124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graphicFrame>
        <p:nvGraphicFramePr>
          <p:cNvPr id="663662163" name=""/>
          <p:cNvGraphicFramePr>
            <a:graphicFrameLocks xmlns:a="http://schemas.openxmlformats.org/drawingml/2006/main"/>
          </p:cNvGraphicFramePr>
          <p:nvPr/>
        </p:nvGraphicFramePr>
        <p:xfrm>
          <a:off x="685266" y="1399342"/>
          <a:ext cx="10902888" cy="415172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{46F890A9-2807-4EBB-B81D-B2AA78EC7F39}</a:tableStyleId>
              </a:tblPr>
              <a:tblGrid>
                <a:gridCol w="2725722"/>
                <a:gridCol w="2725722"/>
                <a:gridCol w="2725722"/>
                <a:gridCol w="2725722"/>
              </a:tblGrid>
              <a:tr h="53570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Критерий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Windows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Linux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MacOS</a:t>
                      </a:r>
                      <a:endParaRPr/>
                    </a:p>
                  </a:txBody>
                  <a:tcPr/>
                </a:tc>
              </a:tr>
              <a:tr h="53570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стоимость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платная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бесплатная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дорогая(с железом)</a:t>
                      </a:r>
                      <a:endParaRPr/>
                    </a:p>
                  </a:txBody>
                  <a:tcPr/>
                </a:tc>
              </a:tr>
              <a:tr h="53570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безопасность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низкая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Очень высокая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высокая</a:t>
                      </a:r>
                      <a:endParaRPr/>
                    </a:p>
                  </a:txBody>
                  <a:tcPr/>
                </a:tc>
              </a:tr>
              <a:tr h="53570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стабильность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средняя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Очень высокая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Высокая </a:t>
                      </a:r>
                      <a:endParaRPr/>
                    </a:p>
                  </a:txBody>
                  <a:tcPr/>
                </a:tc>
              </a:tr>
              <a:tr h="53570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игры и софт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максимум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Много аналогов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ограничено</a:t>
                      </a:r>
                      <a:endParaRPr/>
                    </a:p>
                  </a:txBody>
                  <a:tcPr/>
                </a:tc>
              </a:tr>
              <a:tr h="535707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гибкость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ограничена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максимальная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средняя</a:t>
                      </a:r>
                      <a:endParaRPr/>
                    </a:p>
                  </a:txBody>
                  <a:tcPr/>
                </a:tc>
              </a:tr>
              <a:tr h="937486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аудитория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все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Разработчики, администраторы и т.д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/>
                        <a:t>Разработчики, дизайнеры и т.д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09152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9103150" y="6207647"/>
            <a:ext cx="2743200" cy="365124"/>
          </a:xfrm>
        </p:spPr>
        <p:txBody>
          <a:bodyPr anchor="ctr"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Onest Regular"/>
              </a:defRPr>
            </a:lvl1pPr>
          </a:lstStyle>
          <a:p>
            <a:pPr>
              <a:defRPr/>
            </a:pPr>
            <a:fld id="{960529B0-3A47-F96A-74BB-DD13F31144C4}" type="slidenum">
              <a:rPr lang="en-US"/>
              <a:t/>
            </a:fld>
            <a:endParaRPr lang="en-US"/>
          </a:p>
        </p:txBody>
      </p:sp>
      <p:sp>
        <p:nvSpPr>
          <p:cNvPr id="57501103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1057208" y="366044"/>
            <a:ext cx="9417541" cy="12946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400">
                <a:latin typeface="Onest SemiBold"/>
              </a:defRPr>
            </a:lvl1pPr>
          </a:lstStyle>
          <a:p>
            <a:pPr algn="ctr">
              <a:defRPr/>
            </a:pPr>
            <a:r>
              <a:rPr lang="ru-RU" sz="3600"/>
              <a:t>Выводы</a:t>
            </a:r>
            <a:endParaRPr sz="3600"/>
          </a:p>
        </p:txBody>
      </p:sp>
      <p:sp>
        <p:nvSpPr>
          <p:cNvPr id="199816933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408087" y="6207646"/>
            <a:ext cx="5597381" cy="365124"/>
          </a:xfr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 lang="en-US"/>
          </a:p>
        </p:txBody>
      </p:sp>
      <p:sp>
        <p:nvSpPr>
          <p:cNvPr id="1974085512" name=""/>
          <p:cNvSpPr txBox="1"/>
          <p:nvPr/>
        </p:nvSpPr>
        <p:spPr bwMode="auto">
          <a:xfrm flipH="0" flipV="0">
            <a:off x="713009" y="1165194"/>
            <a:ext cx="102932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827649995" name=""/>
          <p:cNvSpPr txBox="1"/>
          <p:nvPr/>
        </p:nvSpPr>
        <p:spPr bwMode="auto">
          <a:xfrm flipH="0" flipV="0">
            <a:off x="611286" y="1257669"/>
            <a:ext cx="10359666" cy="5029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Были собраны и сведения представления об объекте исследования в литературе</a:t>
            </a:r>
            <a:br>
              <a:rPr lang="ru-RU"/>
            </a:br>
            <a:r>
              <a:rPr lang="ru-RU"/>
              <a:t>Был проведен анализ текущего состояния объекта исследования</a:t>
            </a:r>
            <a:br>
              <a:rPr lang="ru-RU"/>
            </a:br>
            <a:r>
              <a:rPr lang="ru-RU"/>
              <a:t>Были выделены преимущества и недостатки </a:t>
            </a:r>
            <a:r>
              <a:rPr lang="ru-RU"/>
              <a:t>W</a:t>
            </a:r>
            <a:r>
              <a:rPr lang="ru-RU"/>
              <a:t>i</a:t>
            </a:r>
            <a:r>
              <a:rPr lang="ru-RU"/>
              <a:t>n</a:t>
            </a:r>
            <a:r>
              <a:rPr lang="ru-RU"/>
              <a:t>d</a:t>
            </a:r>
            <a:r>
              <a:rPr lang="ru-RU"/>
              <a:t>o</a:t>
            </a:r>
            <a:r>
              <a:rPr lang="ru-RU"/>
              <a:t>w</a:t>
            </a:r>
            <a:r>
              <a:rPr lang="ru-RU"/>
              <a:t>s</a:t>
            </a:r>
            <a:r>
              <a:rPr lang="ru-RU"/>
              <a:t>,</a:t>
            </a:r>
            <a:r>
              <a:rPr lang="ru-RU"/>
              <a:t> </a:t>
            </a:r>
            <a:r>
              <a:rPr lang="ru-RU"/>
              <a:t>m</a:t>
            </a:r>
            <a:r>
              <a:rPr lang="ru-RU"/>
              <a:t>a</a:t>
            </a:r>
            <a:r>
              <a:rPr lang="ru-RU"/>
              <a:t>c</a:t>
            </a:r>
            <a:r>
              <a:rPr lang="ru-RU"/>
              <a:t>O</a:t>
            </a:r>
            <a:r>
              <a:rPr lang="ru-RU"/>
              <a:t>S</a:t>
            </a:r>
            <a:r>
              <a:rPr lang="ru-RU"/>
              <a:t>, </a:t>
            </a:r>
            <a:r>
              <a:rPr lang="ru-RU"/>
              <a:t>L</a:t>
            </a:r>
            <a:r>
              <a:rPr lang="ru-RU"/>
              <a:t>i</a:t>
            </a:r>
            <a:r>
              <a:rPr lang="ru-RU"/>
              <a:t>n</a:t>
            </a:r>
            <a:r>
              <a:rPr lang="ru-RU"/>
              <a:t>u</a:t>
            </a:r>
            <a:r>
              <a:rPr lang="ru-RU"/>
              <a:t>x</a:t>
            </a:r>
            <a:br>
              <a:rPr lang="ru-RU"/>
            </a:br>
            <a:r>
              <a:rPr lang="ru-RU"/>
              <a:t>Были выделены сферы применения </a:t>
            </a:r>
            <a:r>
              <a:rPr lang="ru-RU"/>
              <a:t>W</a:t>
            </a:r>
            <a:r>
              <a:rPr lang="ru-RU"/>
              <a:t>i</a:t>
            </a:r>
            <a:r>
              <a:rPr lang="ru-RU"/>
              <a:t>n</a:t>
            </a:r>
            <a:r>
              <a:rPr lang="ru-RU"/>
              <a:t>d</a:t>
            </a:r>
            <a:r>
              <a:rPr lang="ru-RU"/>
              <a:t>o</a:t>
            </a:r>
            <a:r>
              <a:rPr lang="ru-RU"/>
              <a:t>w</a:t>
            </a:r>
            <a:r>
              <a:rPr lang="ru-RU"/>
              <a:t>s</a:t>
            </a:r>
            <a:r>
              <a:rPr lang="ru-RU"/>
              <a:t>,</a:t>
            </a:r>
            <a:r>
              <a:rPr lang="ru-RU"/>
              <a:t> </a:t>
            </a:r>
            <a:r>
              <a:rPr lang="ru-RU"/>
              <a:t>m</a:t>
            </a:r>
            <a:r>
              <a:rPr lang="ru-RU"/>
              <a:t>a</a:t>
            </a:r>
            <a:r>
              <a:rPr lang="ru-RU"/>
              <a:t>c</a:t>
            </a:r>
            <a:r>
              <a:rPr lang="ru-RU"/>
              <a:t>O</a:t>
            </a:r>
            <a:r>
              <a:rPr lang="ru-RU"/>
              <a:t>S</a:t>
            </a:r>
            <a:r>
              <a:rPr lang="ru-RU"/>
              <a:t>,</a:t>
            </a:r>
            <a:r>
              <a:rPr lang="ru-RU"/>
              <a:t> </a:t>
            </a:r>
            <a:r>
              <a:rPr lang="ru-RU"/>
              <a:t>L</a:t>
            </a:r>
            <a:r>
              <a:rPr lang="ru-RU"/>
              <a:t>i</a:t>
            </a:r>
            <a:r>
              <a:rPr lang="ru-RU"/>
              <a:t>n</a:t>
            </a:r>
            <a:r>
              <a:rPr lang="ru-RU"/>
              <a:t>u</a:t>
            </a:r>
            <a:r>
              <a:rPr lang="ru-RU"/>
              <a:t>x и</a:t>
            </a:r>
            <a:r>
              <a:rPr lang="ru-RU"/>
              <a:t> приведены примеры</a:t>
            </a:r>
            <a:br>
              <a:rPr lang="ru-RU"/>
            </a:br>
            <a:r>
              <a:rPr lang="ru-RU"/>
              <a:t>Было проведено сравнение </a:t>
            </a:r>
            <a:r>
              <a:rPr lang="ru-RU"/>
              <a:t>W</a:t>
            </a:r>
            <a:r>
              <a:rPr lang="ru-RU"/>
              <a:t>i</a:t>
            </a:r>
            <a:r>
              <a:rPr lang="ru-RU"/>
              <a:t>n</a:t>
            </a:r>
            <a:r>
              <a:rPr lang="ru-RU"/>
              <a:t>d</a:t>
            </a:r>
            <a:r>
              <a:rPr lang="ru-RU"/>
              <a:t>o</a:t>
            </a:r>
            <a:r>
              <a:rPr lang="ru-RU"/>
              <a:t>w</a:t>
            </a:r>
            <a:r>
              <a:rPr lang="ru-RU"/>
              <a:t>s</a:t>
            </a:r>
            <a:r>
              <a:rPr lang="ru-RU"/>
              <a:t>,</a:t>
            </a:r>
            <a:r>
              <a:rPr lang="ru-RU"/>
              <a:t> </a:t>
            </a:r>
            <a:r>
              <a:rPr lang="ru-RU"/>
              <a:t>m</a:t>
            </a:r>
            <a:r>
              <a:rPr lang="ru-RU"/>
              <a:t>a</a:t>
            </a:r>
            <a:r>
              <a:rPr lang="ru-RU"/>
              <a:t>c</a:t>
            </a:r>
            <a:r>
              <a:rPr lang="ru-RU"/>
              <a:t>O</a:t>
            </a:r>
            <a:r>
              <a:rPr lang="ru-RU"/>
              <a:t>S</a:t>
            </a:r>
            <a:r>
              <a:rPr lang="ru-RU"/>
              <a:t> и </a:t>
            </a:r>
            <a:r>
              <a:rPr lang="ru-RU"/>
              <a:t>L</a:t>
            </a:r>
            <a:r>
              <a:rPr lang="ru-RU"/>
              <a:t>i</a:t>
            </a:r>
            <a:r>
              <a:rPr lang="ru-RU"/>
              <a:t>n</a:t>
            </a:r>
            <a:r>
              <a:rPr lang="ru-RU"/>
              <a:t>u</a:t>
            </a:r>
            <a:r>
              <a:rPr lang="ru-RU"/>
              <a:t>x по самым важным критериям</a:t>
            </a:r>
            <a:br>
              <a:rPr lang="ru-RU"/>
            </a:br>
            <a:br>
              <a:rPr lang="ru-RU"/>
            </a:br>
            <a:endParaRPr lang="ru-RU"/>
          </a:p>
          <a:p>
            <a:pPr>
              <a:defRPr/>
            </a:pPr>
            <a:endParaRPr sz="1800"/>
          </a:p>
          <a:p>
            <a:pPr>
              <a:defRPr/>
            </a:pPr>
            <a:endParaRPr sz="1800" b="0" i="0" u="none">
              <a:solidFill>
                <a:srgbClr val="0F1115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1800" b="0" i="0" u="none">
              <a:solidFill>
                <a:srgbClr val="0F1115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/>
              <a:t>В заключение могу сказать что н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е существует «лучшей» операционной системы для всех. Есть лучшая ОС для конкретных задач и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к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н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к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р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е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т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н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г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о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пользователя.</a:t>
            </a:r>
            <a:endParaRPr sz="1800" b="0" i="0" u="none">
              <a:solidFill>
                <a:srgbClr val="0F1115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Выбирайте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Windows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, если вам нужны игры, конкретный софт (вроде Adobe) или вы просто хотите, чтобы "всё просто работало" без лишних настроек.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Выбирайте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macOS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, если вы цените дизайн, стабильность, удобство и уже используете технику Apple.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Выбирайте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Linux</a:t>
            </a:r>
            <a:r>
              <a:rPr sz="1800" b="0" i="0" u="none">
                <a:solidFill>
                  <a:srgbClr val="0F1115"/>
                </a:solidFill>
                <a:latin typeface="Arial"/>
                <a:ea typeface="Arial"/>
                <a:cs typeface="Arial"/>
              </a:rPr>
              <a:t>, если вы цените свободу, бесплатность, хотите учиться и полностью контролировать свою систему.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81;p8"/>
          <p:cNvSpPr/>
          <p:nvPr/>
        </p:nvSpPr>
        <p:spPr bwMode="auto">
          <a:xfrm>
            <a:off x="5762814" y="4573012"/>
            <a:ext cx="6165484" cy="1067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ru-RU" sz="1600">
                <a:latin typeface="Onest Regular"/>
                <a:ea typeface="Montserrat Medium"/>
                <a:cs typeface="Montserrat Medium"/>
              </a:rPr>
            </a:br>
            <a:r>
              <a:rPr lang="ru-RU" sz="1600">
                <a:latin typeface="Onest Regular"/>
                <a:ea typeface="Montserrat Medium"/>
                <a:cs typeface="Montserrat Medium"/>
              </a:rPr>
              <a:t>Сорочинская А.С</a:t>
            </a:r>
            <a:br>
              <a:rPr lang="ru-RU" sz="1600">
                <a:latin typeface="Onest Regular"/>
                <a:ea typeface="Montserrat Medium"/>
                <a:cs typeface="Montserrat Medium"/>
              </a:rPr>
            </a:br>
            <a:r>
              <a:rPr lang="ru-RU" sz="1600">
                <a:latin typeface="Onest Regular"/>
                <a:ea typeface="Montserrat Medium"/>
                <a:cs typeface="Montserrat Medium"/>
              </a:rPr>
              <a:t>Астафьев Р.А</a:t>
            </a:r>
            <a:br>
              <a:rPr lang="ru-RU" sz="1600">
                <a:latin typeface="Onest Regular"/>
                <a:ea typeface="Montserrat Medium"/>
                <a:cs typeface="Montserrat Medium"/>
              </a:rPr>
            </a:br>
            <a:r>
              <a:rPr lang="ru-RU" sz="1600">
                <a:latin typeface="Onest Regular"/>
                <a:ea typeface="Montserrat Medium"/>
                <a:cs typeface="Montserrat Medium"/>
              </a:rPr>
              <a:t>Новгородский Ю.Д</a:t>
            </a:r>
            <a:endParaRPr/>
          </a:p>
        </p:txBody>
      </p:sp>
      <p:sp>
        <p:nvSpPr>
          <p:cNvPr id="5" name="Google Shape;183;p8"/>
          <p:cNvSpPr txBox="1"/>
          <p:nvPr/>
        </p:nvSpPr>
        <p:spPr bwMode="auto">
          <a:xfrm flipH="0" flipV="0">
            <a:off x="9182099" y="5736592"/>
            <a:ext cx="3053538" cy="335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>
              <a:solidFill>
                <a:srgbClr val="FF0000"/>
              </a:solidFill>
              <a:latin typeface="Onest Regular"/>
              <a:ea typeface="Montserrat Medium"/>
              <a:cs typeface="Montserrat Medium"/>
            </a:endParaRPr>
          </a:p>
        </p:txBody>
      </p:sp>
      <p:pic>
        <p:nvPicPr>
          <p:cNvPr id="6" name="Google Shape;185;p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8507119" y="5624706"/>
            <a:ext cx="223772" cy="2237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Заголовок 9"/>
          <p:cNvSpPr>
            <a:spLocks noGrp="1"/>
          </p:cNvSpPr>
          <p:nvPr>
            <p:ph type="ctrTitle"/>
          </p:nvPr>
        </p:nvSpPr>
        <p:spPr bwMode="auto">
          <a:xfrm>
            <a:off x="485775" y="1470654"/>
            <a:ext cx="8696325" cy="17106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БЛАГОДАРЮ</a:t>
            </a:r>
            <a:br>
              <a:rPr lang="ru-RU"/>
            </a:br>
            <a:r>
              <a:rPr lang="ru-RU"/>
              <a:t>ЗА ВНИМАНИЕ!</a:t>
            </a:r>
            <a:endParaRPr lang="en-US"/>
          </a:p>
        </p:txBody>
      </p:sp>
      <p:pic>
        <p:nvPicPr>
          <p:cNvPr id="402834909" name="Google Shape;185;p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8507119" y="6034779"/>
            <a:ext cx="223771" cy="22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306201" name="Google Shape;185;p8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8507119" y="6482323"/>
            <a:ext cx="223771" cy="223771"/>
          </a:xfrm>
          <a:prstGeom prst="rect">
            <a:avLst/>
          </a:prstGeom>
          <a:noFill/>
          <a:ln>
            <a:noFill/>
          </a:ln>
        </p:spPr>
      </p:pic>
      <p:sp>
        <p:nvSpPr>
          <p:cNvPr id="353553286" name=""/>
          <p:cNvSpPr txBox="1"/>
          <p:nvPr/>
        </p:nvSpPr>
        <p:spPr bwMode="auto">
          <a:xfrm flipH="0" flipV="0">
            <a:off x="8672312" y="6411148"/>
            <a:ext cx="351708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novgorodskij.yud@edu.spbtsu.ru</a:t>
            </a:r>
            <a:endParaRPr/>
          </a:p>
        </p:txBody>
      </p:sp>
      <p:sp>
        <p:nvSpPr>
          <p:cNvPr id="1196719347" name=""/>
          <p:cNvSpPr txBox="1"/>
          <p:nvPr/>
        </p:nvSpPr>
        <p:spPr bwMode="auto">
          <a:xfrm flipH="0" flipV="0">
            <a:off x="8672311" y="5963604"/>
            <a:ext cx="356704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Onest Regular"/>
                <a:ea typeface="Onest Regular"/>
                <a:cs typeface="Onest Regular"/>
              </a:rPr>
              <a:t>sorochinskaya.as@edu.spbstu.ru</a:t>
            </a:r>
            <a:endParaRPr/>
          </a:p>
        </p:txBody>
      </p:sp>
      <p:sp>
        <p:nvSpPr>
          <p:cNvPr id="1412910966" name=""/>
          <p:cNvSpPr txBox="1"/>
          <p:nvPr/>
        </p:nvSpPr>
        <p:spPr bwMode="auto">
          <a:xfrm flipH="0" flipV="0">
            <a:off x="8664006" y="5553531"/>
            <a:ext cx="285546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Onest Regular"/>
                <a:ea typeface="Onest Regular"/>
                <a:cs typeface="Onest Regular"/>
              </a:rPr>
              <a:t>astafiev.ra@edu.spbstu.ru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00B050"/>
      </a:accent6>
      <a:hlink>
        <a:srgbClr val="0563C1"/>
      </a:hlink>
      <a:folHlink>
        <a:srgbClr val="954F72"/>
      </a:folHlink>
    </a:clrScheme>
    <a:fontScheme name="Другая 2">
      <a:majorFont>
        <a:latin typeface="Onest SemiBold"/>
        <a:ea typeface="Arial"/>
        <a:cs typeface="Arial"/>
      </a:majorFont>
      <a:minorFont>
        <a:latin typeface="Onest Regular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Р7-Офис/2025.3.1.923</Application>
  <DocSecurity>0</DocSecurity>
  <PresentationFormat>Широкоэкранный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autist squad</dc:creator>
  <cp:keywords/>
  <dc:description/>
  <dc:identifier/>
  <dc:language/>
  <cp:lastModifiedBy>mallb</cp:lastModifiedBy>
  <cp:revision>83</cp:revision>
  <dcterms:created xsi:type="dcterms:W3CDTF">2025-02-13T10:56:18Z</dcterms:created>
  <dcterms:modified xsi:type="dcterms:W3CDTF">2025-11-19T14:35:42Z</dcterms:modified>
  <cp:category/>
  <cp:contentStatus/>
  <cp:version/>
</cp:coreProperties>
</file>